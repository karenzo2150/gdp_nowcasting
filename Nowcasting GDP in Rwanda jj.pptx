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6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88" autoAdjust="0"/>
  </p:normalViewPr>
  <p:slideViewPr>
    <p:cSldViewPr snapToGrid="0">
      <p:cViewPr>
        <p:scale>
          <a:sx n="90" d="100"/>
          <a:sy n="90" d="100"/>
        </p:scale>
        <p:origin x="37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GDP  Q1</a:t>
            </a:r>
            <a:r>
              <a:rPr lang="en-US" baseline="0"/>
              <a:t> 2024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RW"/>
        </a:p>
      </c:txPr>
    </c:title>
    <c:autoTitleDeleted val="0"/>
    <c:plotArea>
      <c:layout>
        <c:manualLayout>
          <c:layoutTarget val="inner"/>
          <c:xMode val="edge"/>
          <c:yMode val="edge"/>
          <c:x val="0.3501359771806587"/>
          <c:y val="0.12354684141303529"/>
          <c:w val="0.6116695679324059"/>
          <c:h val="0.769909324248376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'2024Q1&amp;Q2'!$B$46:$AW$46</c:f>
              <c:strCache>
                <c:ptCount val="48"/>
                <c:pt idx="0">
                  <c:v>RGDP</c:v>
                </c:pt>
                <c:pt idx="1">
                  <c:v>RGDP_MLE</c:v>
                </c:pt>
                <c:pt idx="2">
                  <c:v>RGDP_BE</c:v>
                </c:pt>
                <c:pt idx="3">
                  <c:v>Agriculture_exp_val</c:v>
                </c:pt>
                <c:pt idx="4">
                  <c:v>Agriculture_exp_vol</c:v>
                </c:pt>
                <c:pt idx="5">
                  <c:v>cement_imports </c:v>
                </c:pt>
                <c:pt idx="6">
                  <c:v>cement_production</c:v>
                </c:pt>
                <c:pt idx="7">
                  <c:v>cpi</c:v>
                </c:pt>
                <c:pt idx="8">
                  <c:v>cpi_Food</c:v>
                </c:pt>
                <c:pt idx="9">
                  <c:v>credit_priv_sector </c:v>
                </c:pt>
                <c:pt idx="10">
                  <c:v>electricity_prod </c:v>
                </c:pt>
                <c:pt idx="11">
                  <c:v>exp_3ts_val</c:v>
                </c:pt>
                <c:pt idx="12">
                  <c:v>exp_3ts_vol</c:v>
                </c:pt>
                <c:pt idx="13">
                  <c:v>exp_val</c:v>
                </c:pt>
                <c:pt idx="14">
                  <c:v>exp_vol</c:v>
                </c:pt>
                <c:pt idx="15">
                  <c:v>flour_production </c:v>
                </c:pt>
                <c:pt idx="16">
                  <c:v>IIP</c:v>
                </c:pt>
                <c:pt idx="17">
                  <c:v>Imp_Cap_val</c:v>
                </c:pt>
                <c:pt idx="18">
                  <c:v>Imp_Cap_vol</c:v>
                </c:pt>
                <c:pt idx="19">
                  <c:v>imp_cif</c:v>
                </c:pt>
                <c:pt idx="20">
                  <c:v>Imp_consumer_val</c:v>
                </c:pt>
                <c:pt idx="21">
                  <c:v>Imp_consumer_vol</c:v>
                </c:pt>
                <c:pt idx="22">
                  <c:v>Imp_Interm_val</c:v>
                </c:pt>
                <c:pt idx="23">
                  <c:v>Imp_Interm_vol</c:v>
                </c:pt>
                <c:pt idx="24">
                  <c:v>Import_petroleum_products</c:v>
                </c:pt>
                <c:pt idx="25">
                  <c:v>imp_vol</c:v>
                </c:pt>
                <c:pt idx="26">
                  <c:v>M3</c:v>
                </c:pt>
                <c:pt idx="27">
                  <c:v>mle1</c:v>
                </c:pt>
                <c:pt idx="28">
                  <c:v>mle2</c:v>
                </c:pt>
                <c:pt idx="29">
                  <c:v>mle3</c:v>
                </c:pt>
                <c:pt idx="30">
                  <c:v>modern_beer </c:v>
                </c:pt>
                <c:pt idx="31">
                  <c:v>ner_eop_usd</c:v>
                </c:pt>
                <c:pt idx="32">
                  <c:v>nom_CIEA</c:v>
                </c:pt>
                <c:pt idx="33">
                  <c:v>ppi_all_rwanda </c:v>
                </c:pt>
                <c:pt idx="34">
                  <c:v>real_CIEA</c:v>
                </c:pt>
                <c:pt idx="35">
                  <c:v>rice_production </c:v>
                </c:pt>
                <c:pt idx="36">
                  <c:v>soft_drinks </c:v>
                </c:pt>
                <c:pt idx="37">
                  <c:v>Total_Cement</c:v>
                </c:pt>
                <c:pt idx="38">
                  <c:v>Turnovers_Construction</c:v>
                </c:pt>
                <c:pt idx="39">
                  <c:v>Turnovers_Financial</c:v>
                </c:pt>
                <c:pt idx="40">
                  <c:v>Turnovers_Hotel</c:v>
                </c:pt>
                <c:pt idx="41">
                  <c:v>turnovers_industry</c:v>
                </c:pt>
                <c:pt idx="42">
                  <c:v>Turnovers_Manuf</c:v>
                </c:pt>
                <c:pt idx="43">
                  <c:v>turnovers_services</c:v>
                </c:pt>
                <c:pt idx="44">
                  <c:v>Turnovers_Trade</c:v>
                </c:pt>
                <c:pt idx="45">
                  <c:v>Turnovers_Transport</c:v>
                </c:pt>
                <c:pt idx="46">
                  <c:v>VAT_receipts</c:v>
                </c:pt>
                <c:pt idx="47">
                  <c:v>water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accent5">
                  <a:lumMod val="20000"/>
                  <a:lumOff val="8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B3C-4717-8809-12FE25B9A9EC}"/>
                </c:ext>
              </c:extLst>
            </c:dLbl>
            <c:dLbl>
              <c:idx val="1"/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B3C-4717-8809-12FE25B9A9EC}"/>
                </c:ext>
              </c:extLst>
            </c:dLbl>
            <c:dLbl>
              <c:idx val="2"/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B3C-4717-8809-12FE25B9A9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('2024Q1&amp;Q2'!$B$46:$E$46,'2024Q1&amp;Q2'!$L$46,'2024Q1&amp;Q2'!$S$46,'2024Q1&amp;Q2'!$U$46,'2024Q1&amp;Q2'!$W$46,'2024Q1&amp;Q2'!$AC$46:$AE$46,'2024Q1&amp;Q2'!$AH$46,'2024Q1&amp;Q2'!$AJ$46,'2024Q1&amp;Q2'!$AN$46:$AP$46,'2024Q1&amp;Q2'!$AU$46)</c:f>
              <c:strCache>
                <c:ptCount val="17"/>
                <c:pt idx="0">
                  <c:v>RGDP</c:v>
                </c:pt>
                <c:pt idx="1">
                  <c:v>RGDP_MLE</c:v>
                </c:pt>
                <c:pt idx="2">
                  <c:v>RGDP_BE</c:v>
                </c:pt>
                <c:pt idx="3">
                  <c:v>Agriculture_exp_val</c:v>
                </c:pt>
                <c:pt idx="4">
                  <c:v>electricity_prod </c:v>
                </c:pt>
                <c:pt idx="5">
                  <c:v>Imp_Cap_val</c:v>
                </c:pt>
                <c:pt idx="6">
                  <c:v>imp_cif</c:v>
                </c:pt>
                <c:pt idx="7">
                  <c:v>Imp_consumer_vol</c:v>
                </c:pt>
                <c:pt idx="8">
                  <c:v>mle1</c:v>
                </c:pt>
                <c:pt idx="9">
                  <c:v>mle2</c:v>
                </c:pt>
                <c:pt idx="10">
                  <c:v>mle3</c:v>
                </c:pt>
                <c:pt idx="11">
                  <c:v>nom_CIEA</c:v>
                </c:pt>
                <c:pt idx="12">
                  <c:v>real_CIEA</c:v>
                </c:pt>
                <c:pt idx="13">
                  <c:v>Turnovers_Construction</c:v>
                </c:pt>
                <c:pt idx="14">
                  <c:v>Turnovers_Financial</c:v>
                </c:pt>
                <c:pt idx="15">
                  <c:v>Turnovers_Hotel</c:v>
                </c:pt>
                <c:pt idx="16">
                  <c:v>Turnovers_Transport</c:v>
                </c:pt>
              </c:strCache>
              <c:extLst/>
            </c:strRef>
          </c:cat>
          <c:val>
            <c:numRef>
              <c:f>('2024Q1&amp;Q2'!$B$49:$E$49,'2024Q1&amp;Q2'!$L$49,'2024Q1&amp;Q2'!$S$49,'2024Q1&amp;Q2'!$U$49,'2024Q1&amp;Q2'!$W$49,'2024Q1&amp;Q2'!$AC$49:$AE$49,'2024Q1&amp;Q2'!$AH$49,'2024Q1&amp;Q2'!$AJ$49,'2024Q1&amp;Q2'!$AN$49:$AP$49,'2024Q1&amp;Q2'!$AU$49)</c:f>
              <c:numCache>
                <c:formatCode>0.0%</c:formatCode>
                <c:ptCount val="17"/>
                <c:pt idx="0">
                  <c:v>0.11321371552975323</c:v>
                </c:pt>
                <c:pt idx="1">
                  <c:v>0.10786282378693901</c:v>
                </c:pt>
                <c:pt idx="2">
                  <c:v>0.10873148485954021</c:v>
                </c:pt>
                <c:pt idx="3">
                  <c:v>9.9579481099292266E-2</c:v>
                </c:pt>
                <c:pt idx="4">
                  <c:v>8.3633318049727956E-2</c:v>
                </c:pt>
                <c:pt idx="5">
                  <c:v>0.11240228647615025</c:v>
                </c:pt>
                <c:pt idx="6">
                  <c:v>0.10624313023340703</c:v>
                </c:pt>
                <c:pt idx="7">
                  <c:v>9.6724026097637861E-2</c:v>
                </c:pt>
                <c:pt idx="8">
                  <c:v>0.10140207128140055</c:v>
                </c:pt>
                <c:pt idx="9">
                  <c:v>0.12809893709987308</c:v>
                </c:pt>
                <c:pt idx="10">
                  <c:v>0.10226436534415106</c:v>
                </c:pt>
                <c:pt idx="11">
                  <c:v>0.12336991730141866</c:v>
                </c:pt>
                <c:pt idx="12">
                  <c:v>0.11590362229486217</c:v>
                </c:pt>
                <c:pt idx="13">
                  <c:v>0.12893761958759442</c:v>
                </c:pt>
                <c:pt idx="14">
                  <c:v>0.11111666995521041</c:v>
                </c:pt>
                <c:pt idx="15">
                  <c:v>8.6013531652641584E-2</c:v>
                </c:pt>
                <c:pt idx="16">
                  <c:v>0.10018177389128446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0B3C-4717-8809-12FE25B9A9E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852064943"/>
        <c:axId val="852067855"/>
      </c:barChart>
      <c:catAx>
        <c:axId val="852064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7855"/>
        <c:crosses val="autoZero"/>
        <c:auto val="1"/>
        <c:lblAlgn val="ctr"/>
        <c:lblOffset val="100"/>
        <c:noMultiLvlLbl val="0"/>
      </c:catAx>
      <c:valAx>
        <c:axId val="85206785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RW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GDP  Q2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RW"/>
        </a:p>
      </c:txPr>
    </c:title>
    <c:autoTitleDeleted val="0"/>
    <c:plotArea>
      <c:layout>
        <c:manualLayout>
          <c:layoutTarget val="inner"/>
          <c:xMode val="edge"/>
          <c:yMode val="edge"/>
          <c:x val="0.39313514547286932"/>
          <c:y val="0.11492139457927102"/>
          <c:w val="0.56397985110891657"/>
          <c:h val="0.769546044937401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'2024Q1&amp;Q2'!$B$98:$AW$98</c:f>
              <c:strCache>
                <c:ptCount val="48"/>
                <c:pt idx="0">
                  <c:v>RGDP</c:v>
                </c:pt>
                <c:pt idx="1">
                  <c:v>RGDP_MLE</c:v>
                </c:pt>
                <c:pt idx="2">
                  <c:v>RGDP_BE</c:v>
                </c:pt>
                <c:pt idx="3">
                  <c:v>Agriculture_exp_val</c:v>
                </c:pt>
                <c:pt idx="4">
                  <c:v>Agriculture_exp_vol</c:v>
                </c:pt>
                <c:pt idx="5">
                  <c:v>cement_imports </c:v>
                </c:pt>
                <c:pt idx="6">
                  <c:v>cement_production</c:v>
                </c:pt>
                <c:pt idx="7">
                  <c:v>cpi</c:v>
                </c:pt>
                <c:pt idx="8">
                  <c:v>cpi_Food</c:v>
                </c:pt>
                <c:pt idx="9">
                  <c:v>credit_priv_sector </c:v>
                </c:pt>
                <c:pt idx="10">
                  <c:v>electricity_prod </c:v>
                </c:pt>
                <c:pt idx="11">
                  <c:v>exp_3ts_val</c:v>
                </c:pt>
                <c:pt idx="12">
                  <c:v>exp_3ts_vol</c:v>
                </c:pt>
                <c:pt idx="13">
                  <c:v>exp_val</c:v>
                </c:pt>
                <c:pt idx="14">
                  <c:v>exp_vol</c:v>
                </c:pt>
                <c:pt idx="15">
                  <c:v>flour_production </c:v>
                </c:pt>
                <c:pt idx="16">
                  <c:v>IIP</c:v>
                </c:pt>
                <c:pt idx="17">
                  <c:v>Imp_Cap_val</c:v>
                </c:pt>
                <c:pt idx="18">
                  <c:v>Imp_Cap_vol</c:v>
                </c:pt>
                <c:pt idx="19">
                  <c:v>imp_cif</c:v>
                </c:pt>
                <c:pt idx="20">
                  <c:v>Imp_consumer_val</c:v>
                </c:pt>
                <c:pt idx="21">
                  <c:v>Imp_consumer_vol</c:v>
                </c:pt>
                <c:pt idx="22">
                  <c:v>Imp_Interm_val</c:v>
                </c:pt>
                <c:pt idx="23">
                  <c:v>Imp_Interm_vol</c:v>
                </c:pt>
                <c:pt idx="24">
                  <c:v>Import_petroleum_products</c:v>
                </c:pt>
                <c:pt idx="25">
                  <c:v>imp_vol</c:v>
                </c:pt>
                <c:pt idx="26">
                  <c:v>M3</c:v>
                </c:pt>
                <c:pt idx="27">
                  <c:v>mle1</c:v>
                </c:pt>
                <c:pt idx="28">
                  <c:v>mle2</c:v>
                </c:pt>
                <c:pt idx="29">
                  <c:v>mle3</c:v>
                </c:pt>
                <c:pt idx="30">
                  <c:v>modern_beer </c:v>
                </c:pt>
                <c:pt idx="31">
                  <c:v>ner_eop_usd</c:v>
                </c:pt>
                <c:pt idx="32">
                  <c:v>nom_CIEA</c:v>
                </c:pt>
                <c:pt idx="33">
                  <c:v>ppi_all_rwanda </c:v>
                </c:pt>
                <c:pt idx="34">
                  <c:v>real_CIEA</c:v>
                </c:pt>
                <c:pt idx="35">
                  <c:v>rice_production </c:v>
                </c:pt>
                <c:pt idx="36">
                  <c:v>soft_drinks </c:v>
                </c:pt>
                <c:pt idx="37">
                  <c:v>Total_Cement</c:v>
                </c:pt>
                <c:pt idx="38">
                  <c:v>Turnovers_Construction</c:v>
                </c:pt>
                <c:pt idx="39">
                  <c:v>Turnovers_Financial</c:v>
                </c:pt>
                <c:pt idx="40">
                  <c:v>Turnovers_Hotel</c:v>
                </c:pt>
                <c:pt idx="41">
                  <c:v>turnovers_industry</c:v>
                </c:pt>
                <c:pt idx="42">
                  <c:v>Turnovers_Manuf</c:v>
                </c:pt>
                <c:pt idx="43">
                  <c:v>turnovers_services</c:v>
                </c:pt>
                <c:pt idx="44">
                  <c:v>Turnovers_Trade</c:v>
                </c:pt>
                <c:pt idx="45">
                  <c:v>Turnovers_Transport</c:v>
                </c:pt>
                <c:pt idx="46">
                  <c:v>VAT_receipts</c:v>
                </c:pt>
                <c:pt idx="47">
                  <c:v>water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81A-44BA-AB04-58CACCAA7E4F}"/>
                </c:ext>
              </c:extLst>
            </c:dLbl>
            <c:dLbl>
              <c:idx val="1"/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81A-44BA-AB04-58CACCAA7E4F}"/>
                </c:ext>
              </c:extLst>
            </c:dLbl>
            <c:dLbl>
              <c:idx val="2"/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281A-44BA-AB04-58CACCAA7E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('2024Q1&amp;Q2'!$B$98:$D$98,'2024Q1&amp;Q2'!$L$98,'2024Q1&amp;Q2'!$S$98,'2024Q1&amp;Q2'!$W$98,'2024Q1&amp;Q2'!$AC$98:$AE$98,'2024Q1&amp;Q2'!$AH$98,'2024Q1&amp;Q2'!$AJ$98,'2024Q1&amp;Q2'!$AN$98:$AP$98,'2024Q1&amp;Q2'!$AU$98)</c:f>
              <c:strCache>
                <c:ptCount val="15"/>
                <c:pt idx="0">
                  <c:v>RGDP</c:v>
                </c:pt>
                <c:pt idx="1">
                  <c:v>RGDP_MLE</c:v>
                </c:pt>
                <c:pt idx="2">
                  <c:v>RGDP_BE</c:v>
                </c:pt>
                <c:pt idx="3">
                  <c:v>electricity_prod </c:v>
                </c:pt>
                <c:pt idx="4">
                  <c:v>Imp_Cap_val</c:v>
                </c:pt>
                <c:pt idx="5">
                  <c:v>Imp_consumer_vol</c:v>
                </c:pt>
                <c:pt idx="6">
                  <c:v>mle1</c:v>
                </c:pt>
                <c:pt idx="7">
                  <c:v>mle2</c:v>
                </c:pt>
                <c:pt idx="8">
                  <c:v>mle3</c:v>
                </c:pt>
                <c:pt idx="9">
                  <c:v>nom_CIEA</c:v>
                </c:pt>
                <c:pt idx="10">
                  <c:v>real_CIEA</c:v>
                </c:pt>
                <c:pt idx="11">
                  <c:v>Turnovers_Construction</c:v>
                </c:pt>
                <c:pt idx="12">
                  <c:v>Turnovers_Financial</c:v>
                </c:pt>
                <c:pt idx="13">
                  <c:v>Turnovers_Hotel</c:v>
                </c:pt>
                <c:pt idx="14">
                  <c:v>Turnovers_Transport</c:v>
                </c:pt>
              </c:strCache>
              <c:extLst/>
            </c:strRef>
          </c:cat>
          <c:val>
            <c:numRef>
              <c:f>('2024Q1&amp;Q2'!$B$101:$D$101,'2024Q1&amp;Q2'!$L$101,'2024Q1&amp;Q2'!$S$101,'2024Q1&amp;Q2'!$W$101,'2024Q1&amp;Q2'!$AC$101:$AE$101,'2024Q1&amp;Q2'!$AH$101,'2024Q1&amp;Q2'!$AJ$101,'2024Q1&amp;Q2'!$AN$101:$AP$101,'2024Q1&amp;Q2'!$AU$101)</c:f>
              <c:numCache>
                <c:formatCode>0.0%</c:formatCode>
                <c:ptCount val="15"/>
                <c:pt idx="0">
                  <c:v>0.11941258992805759</c:v>
                </c:pt>
                <c:pt idx="1">
                  <c:v>0.11384748201438843</c:v>
                </c:pt>
                <c:pt idx="2">
                  <c:v>0.11471798561151081</c:v>
                </c:pt>
                <c:pt idx="3">
                  <c:v>8.8279553883266138E-2</c:v>
                </c:pt>
                <c:pt idx="4">
                  <c:v>0.10275411991075534</c:v>
                </c:pt>
                <c:pt idx="5">
                  <c:v>9.4528548624291275E-2</c:v>
                </c:pt>
                <c:pt idx="6">
                  <c:v>0.11678993777472302</c:v>
                </c:pt>
                <c:pt idx="7">
                  <c:v>0.13631244545652166</c:v>
                </c:pt>
                <c:pt idx="8">
                  <c:v>0.11090484076501439</c:v>
                </c:pt>
                <c:pt idx="9">
                  <c:v>0.13977397502952171</c:v>
                </c:pt>
                <c:pt idx="10">
                  <c:v>0.12539224445966179</c:v>
                </c:pt>
                <c:pt idx="11">
                  <c:v>0.16648564232653973</c:v>
                </c:pt>
                <c:pt idx="12">
                  <c:v>0.11774300709304675</c:v>
                </c:pt>
                <c:pt idx="13">
                  <c:v>8.9997778834525199E-2</c:v>
                </c:pt>
                <c:pt idx="14">
                  <c:v>0.10949295061871589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281A-44BA-AB04-58CACCAA7E4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852064943"/>
        <c:axId val="852067855"/>
      </c:barChart>
      <c:catAx>
        <c:axId val="852064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7855"/>
        <c:crosses val="autoZero"/>
        <c:auto val="1"/>
        <c:lblAlgn val="ctr"/>
        <c:lblOffset val="100"/>
        <c:noMultiLvlLbl val="0"/>
      </c:catAx>
      <c:valAx>
        <c:axId val="85206785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RW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5B40-6B79-4546-941C-81D3ACC02670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D5F8B-77E8-4AE0-BBCF-94EA66459F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68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D5F8B-77E8-4AE0-BBCF-94EA66459F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00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Common Statistical Measures for Forecast Uncertainty/accuracy 1. Bias: the difference between the forecasts and the correct outcome, 2. Variance (“standard forecast error,</a:t>
            </a:r>
          </a:p>
          <a:p>
            <a:r>
              <a:rPr lang="en-US" sz="800" dirty="0"/>
              <a:t>SE”) sqrt of (FE-BIAS)</a:t>
            </a:r>
            <a:r>
              <a:rPr 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3. MSE—combination of SE &amp;BIAS, 4. RMSE sqrt of MSE, 5. MAE and MAPE 6. Theil’s U Statistics for forecast accuracy (U1) and quality (U2)—compares forecast with benchmark or naïve forecasting model. </a:t>
            </a:r>
            <a:r>
              <a:rPr lang="en-US" sz="10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1050" dirty="0"/>
              <a:t>orecast evaluation statistics worsen as if forecast horizon increases.</a:t>
            </a:r>
            <a:endParaRPr lang="en-RW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D5F8B-77E8-4AE0-BBCF-94EA66459FD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81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Common Statistical Measures for Forecast Uncertainty/accuracy 1. Bias: the difference between the forecasts and the correct outcome, 2. Variance (“standard forecast error,</a:t>
            </a:r>
          </a:p>
          <a:p>
            <a:r>
              <a:rPr lang="en-US" sz="800" dirty="0"/>
              <a:t>SE”) sqrt of (FE-BIAS)</a:t>
            </a:r>
            <a:r>
              <a:rPr 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3. MSE—combination of SE &amp;BIAS, 4. RMSE sqrt of MSE, 5. MAE and MAPE 6. Theil’s U Statistics for forecast accuracy (U1) and quality (U2)—compares forecast with benchmark or naïve forecasting model. </a:t>
            </a:r>
            <a:r>
              <a:rPr lang="en-US" sz="10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1050" dirty="0"/>
              <a:t>orecast evaluation statistics worsen as if forecast horizon increases.</a:t>
            </a:r>
            <a:endParaRPr lang="en-RW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BD5F8B-77E8-4AE0-BBCF-94EA66459FD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037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08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25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06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40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13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04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39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69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2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8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41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647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203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16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190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683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437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FD3EDB1-08E2-4F9E-8F2D-EDA7365F9CB1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AB3E0-2BCE-4F82-A7CF-9E53573606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619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D65885-68C3-2378-16E4-FE4E600F8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449684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MPD, OCE, </a:t>
            </a:r>
            <a:r>
              <a:rPr lang="en-GB" sz="3600" dirty="0" err="1"/>
              <a:t>Minecofin</a:t>
            </a:r>
            <a:r>
              <a:rPr lang="en-GB" sz="3600" dirty="0"/>
              <a:t>.</a:t>
            </a:r>
          </a:p>
          <a:p>
            <a:pPr algn="ctr"/>
            <a:r>
              <a:rPr lang="en-GB" sz="3600" cap="none" dirty="0"/>
              <a:t>April 2024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A818E4-0175-325A-6CDC-A337D26A9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78860"/>
            <a:ext cx="8825658" cy="1322293"/>
          </a:xfrm>
        </p:spPr>
        <p:txBody>
          <a:bodyPr/>
          <a:lstStyle/>
          <a:p>
            <a:r>
              <a:rPr lang="en-GB" sz="4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Quarterly GDP Nowcasting</a:t>
            </a:r>
            <a:br>
              <a:rPr lang="en-GB" sz="4200" b="1" dirty="0">
                <a:solidFill>
                  <a:srgbClr val="92D050"/>
                </a:solidFill>
              </a:rPr>
            </a:br>
            <a:endParaRPr lang="en-GB" sz="4200" b="1" dirty="0">
              <a:solidFill>
                <a:srgbClr val="92D05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9D6672-4757-4745-AA39-704BF45C1FE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7290" y="107073"/>
            <a:ext cx="873303" cy="861421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E8805F2F-F345-17A9-6A2A-8B843AC6A263}"/>
              </a:ext>
            </a:extLst>
          </p:cNvPr>
          <p:cNvSpPr txBox="1">
            <a:spLocks/>
          </p:cNvSpPr>
          <p:nvPr/>
        </p:nvSpPr>
        <p:spPr>
          <a:xfrm>
            <a:off x="1154955" y="2635624"/>
            <a:ext cx="8825658" cy="15957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600" b="1" dirty="0">
                <a:solidFill>
                  <a:srgbClr val="00B0F0"/>
                </a:solidFill>
              </a:rPr>
              <a:t>Young Economics Program (YEP) batch. 8</a:t>
            </a:r>
            <a:br>
              <a:rPr lang="en-GB" sz="3600" b="1" dirty="0">
                <a:solidFill>
                  <a:srgbClr val="92D050"/>
                </a:solidFill>
              </a:rPr>
            </a:br>
            <a:endParaRPr lang="en-GB" sz="36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14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1BCA-A6A9-9F1C-68FF-AC2B090F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811306"/>
          </a:xfrm>
        </p:spPr>
        <p:txBody>
          <a:bodyPr/>
          <a:lstStyle/>
          <a:p>
            <a:r>
              <a:rPr lang="en-GB" b="1" dirty="0">
                <a:solidFill>
                  <a:srgbClr val="92D050"/>
                </a:solidFill>
              </a:rPr>
              <a:t>Outline &amp;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9315-309F-8CB9-8FA3-CC1E4B23B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33591"/>
            <a:ext cx="8946541" cy="345211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Rationale &amp; use (why Nowcasting?)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Variables and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Methodology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Key steps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Nowcasting in practice—</a:t>
            </a:r>
            <a:r>
              <a:rPr lang="en-GB" dirty="0" err="1"/>
              <a:t>Eviews</a:t>
            </a:r>
            <a:r>
              <a:rPr lang="en-GB" dirty="0"/>
              <a:t> program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Illustrated results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82693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170-0E1D-4C2D-1173-A166FD4E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499782"/>
          </a:xfrm>
        </p:spPr>
        <p:txBody>
          <a:bodyPr/>
          <a:lstStyle/>
          <a:p>
            <a:r>
              <a:rPr lang="en-US" sz="3600" b="1" dirty="0">
                <a:solidFill>
                  <a:srgbClr val="92D050"/>
                </a:solidFill>
              </a:rPr>
              <a:t>Introduction</a:t>
            </a:r>
            <a:endParaRPr lang="en-RW" sz="3600" b="1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E4D7-A8FD-8848-49A0-AD329197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74551"/>
            <a:ext cx="8946541" cy="510988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Monetary and fiscal policies depend on evaluations of current and short-term economic conditions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Data issues in terms of irregularity and timeliness of published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Nowcasting (forecast current—now) approach estimates current Qo GDP using HFIs available data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Bridge Equations (BEs) are small-scale models used to "bridge" the information contained in individual HFIs using single equations, with the Qo growth rate of GDP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multiple linear equations (MLEs) associating two or three indicators, which make sense from an economic or statistical point of view and fit well the data</a:t>
            </a: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BEs, MLEs and combination outperform other models incl. MIDAS, VAR, ARMA, DFM …..)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5707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5F79-39F9-1198-A118-3AD6934F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524783" cy="847164"/>
          </a:xfrm>
        </p:spPr>
        <p:txBody>
          <a:bodyPr/>
          <a:lstStyle/>
          <a:p>
            <a:r>
              <a:rPr lang="en-GB" b="1" dirty="0">
                <a:solidFill>
                  <a:srgbClr val="92D050"/>
                </a:solidFill>
              </a:rPr>
              <a:t>Rationale &amp;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393-1E41-C940-0F14-06A6A8D95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813" y="2052918"/>
            <a:ext cx="9843804" cy="45045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NISR Qo GDP publication lags for a quarter (3 Mos)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Evaluate short-term macroeconomic conditions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Forecasting (nowcasting) of current Qo and next Qo (i.e., Q1 &amp; Q2 2024)</a:t>
            </a: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Inputs/ assumptions to macroeconomic projections: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Macro-Framework (MF) projections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Quarterly Macro Fiscal Model (QMFM)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dirty="0"/>
              <a:t>In-year assumptions for actual tax ratios and other estimations.</a:t>
            </a:r>
          </a:p>
        </p:txBody>
      </p:sp>
    </p:spTree>
    <p:extLst>
      <p:ext uri="{BB962C8B-B14F-4D97-AF65-F5344CB8AC3E}">
        <p14:creationId xmlns:p14="http://schemas.microsoft.com/office/powerpoint/2010/main" val="185375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625D-254F-E56A-7260-B2708D38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19228"/>
          </a:xfrm>
        </p:spPr>
        <p:txBody>
          <a:bodyPr/>
          <a:lstStyle/>
          <a:p>
            <a:r>
              <a:rPr lang="en-GB" sz="4000" b="1" dirty="0">
                <a:solidFill>
                  <a:srgbClr val="92D050"/>
                </a:solidFill>
              </a:rPr>
              <a:t>Variables &amp; data sources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61A7A30-24B9-3BFE-3C27-2B4949001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18332"/>
              </p:ext>
            </p:extLst>
          </p:nvPr>
        </p:nvGraphicFramePr>
        <p:xfrm>
          <a:off x="875201" y="1754829"/>
          <a:ext cx="10679584" cy="3696502"/>
        </p:xfrm>
        <a:graphic>
          <a:graphicData uri="http://schemas.openxmlformats.org/drawingml/2006/table">
            <a:tbl>
              <a:tblPr firstRow="1" firstCol="1" bandRow="1"/>
              <a:tblGrid>
                <a:gridCol w="3874090">
                  <a:extLst>
                    <a:ext uri="{9D8B030D-6E8A-4147-A177-3AD203B41FA5}">
                      <a16:colId xmlns:a16="http://schemas.microsoft.com/office/drawing/2014/main" val="3411503223"/>
                    </a:ext>
                  </a:extLst>
                </a:gridCol>
                <a:gridCol w="2991659">
                  <a:extLst>
                    <a:ext uri="{9D8B030D-6E8A-4147-A177-3AD203B41FA5}">
                      <a16:colId xmlns:a16="http://schemas.microsoft.com/office/drawing/2014/main" val="644650801"/>
                    </a:ext>
                  </a:extLst>
                </a:gridCol>
                <a:gridCol w="1390907">
                  <a:extLst>
                    <a:ext uri="{9D8B030D-6E8A-4147-A177-3AD203B41FA5}">
                      <a16:colId xmlns:a16="http://schemas.microsoft.com/office/drawing/2014/main" val="1819707068"/>
                    </a:ext>
                  </a:extLst>
                </a:gridCol>
                <a:gridCol w="1399785">
                  <a:extLst>
                    <a:ext uri="{9D8B030D-6E8A-4147-A177-3AD203B41FA5}">
                      <a16:colId xmlns:a16="http://schemas.microsoft.com/office/drawing/2014/main" val="1358404318"/>
                    </a:ext>
                  </a:extLst>
                </a:gridCol>
                <a:gridCol w="1023143">
                  <a:extLst>
                    <a:ext uri="{9D8B030D-6E8A-4147-A177-3AD203B41FA5}">
                      <a16:colId xmlns:a16="http://schemas.microsoft.com/office/drawing/2014/main" val="2918264842"/>
                    </a:ext>
                  </a:extLst>
                </a:gridCol>
              </a:tblGrid>
              <a:tr h="3401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Frequency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Delay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Source Institution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Starting date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183319"/>
                  </a:ext>
                </a:extLst>
              </a:tr>
              <a:tr h="3312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CPI Headline, Urban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days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NISR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04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478314"/>
                  </a:ext>
                </a:extLst>
              </a:tr>
              <a:tr h="2443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PPI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Published quarterly, data 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4-6 weeks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NISR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05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101969"/>
                  </a:ext>
                </a:extLst>
              </a:tr>
              <a:tr h="2535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broad money, credit to private sector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days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BNR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03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882950"/>
                  </a:ext>
                </a:extLst>
              </a:tr>
              <a:tr h="2427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VAT receipts 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 days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RRA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06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97992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Exchange rate (current prices, USD)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day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BNR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06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6212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Imports/Exports of goods  (volume, value)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 days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BNR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1998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56263"/>
                  </a:ext>
                </a:extLst>
              </a:tr>
              <a:tr h="3401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Industrial production (beer, soft drinks, rice, cement, flour, milk, electricity, and water)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Published quarterly, data 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Up to 2 months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NISR/BNR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2006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365263"/>
                  </a:ext>
                </a:extLst>
              </a:tr>
              <a:tr h="3401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BNR’s Composite Indicator of Economic Activity (Real)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days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BNR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2012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1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Turnovers (Industry, construction, services, hotel, financial serv., Trade, transport)</a:t>
                      </a: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month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NISR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2012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103461"/>
                  </a:ext>
                </a:extLst>
              </a:tr>
              <a:tr h="5559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IIP (Index of Industrial Production)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Monthly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month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NISR</a:t>
                      </a:r>
                      <a:endParaRPr lang="en-GB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Jan 2011</a:t>
                      </a:r>
                      <a:endParaRPr lang="en-GB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942" marR="6594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517236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13D4AC91-1F9E-85D3-3EB6-687A681CF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2593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6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E625-13C4-6CC4-B569-5B8EA9D8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81" y="130147"/>
            <a:ext cx="9404723" cy="658906"/>
          </a:xfrm>
        </p:spPr>
        <p:txBody>
          <a:bodyPr/>
          <a:lstStyle/>
          <a:p>
            <a:r>
              <a:rPr lang="en-GB" b="1" dirty="0">
                <a:solidFill>
                  <a:srgbClr val="92D050"/>
                </a:solidFill>
                <a:latin typeface="Gill Sans MT" panose="020B0502020104020203" pitchFamily="34" charset="0"/>
              </a:rPr>
              <a:t>Methodology </a:t>
            </a:r>
            <a:r>
              <a:rPr lang="en-GB" sz="3200" b="1" dirty="0">
                <a:solidFill>
                  <a:srgbClr val="92D050"/>
                </a:solidFill>
                <a:latin typeface="Gill Sans MT" panose="020B0502020104020203" pitchFamily="34" charset="0"/>
              </a:rPr>
              <a:t>&amp; steps of nowcasting</a:t>
            </a:r>
            <a:endParaRPr lang="en-GB" b="1" dirty="0">
              <a:solidFill>
                <a:srgbClr val="92D05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AD1B-0AB1-FA4A-DB14-E8EF23C99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5735" y="1169936"/>
            <a:ext cx="5510230" cy="332394"/>
          </a:xfrm>
        </p:spPr>
        <p:txBody>
          <a:bodyPr/>
          <a:lstStyle/>
          <a:p>
            <a:pPr algn="ctr"/>
            <a:r>
              <a:rPr lang="en-GB" sz="1400" dirty="0">
                <a:latin typeface="Gill Sans MT" panose="020B0502020104020203" pitchFamily="34" charset="0"/>
              </a:rPr>
              <a:t>3. Estimation of equation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391317B-8812-026A-235E-E1EC886E71D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15735" y="1639354"/>
                <a:ext cx="2710247" cy="2301010"/>
              </a:xfrm>
              <a:ln>
                <a:solidFill>
                  <a:schemeClr val="bg1">
                    <a:lumMod val="75000"/>
                    <a:lumOff val="2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1E5155">
                      <a:lumMod val="40000"/>
                      <a:lumOff val="60000"/>
                    </a:srgbClr>
                  </a:buClr>
                  <a:buSzPct val="80000"/>
                  <a:buFont typeface="Wingdings 3" charset="2"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entury Gothic" panose="020B0502020202020204"/>
                    <a:ea typeface="+mj-ea"/>
                    <a:cs typeface="+mj-cs"/>
                  </a:rPr>
                  <a:t>Bridge Equations/BE</a:t>
                </a:r>
                <a:endParaRPr lang="en-US" sz="1050" dirty="0">
                  <a:solidFill>
                    <a:schemeClr val="bg1"/>
                  </a:solidFill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Bridge equation (BE) uses a HFI as regressor in a single equations with GDP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9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dlog</m:t>
                        </m:r>
                      </m:fName>
                      <m:e>
                        <m:d>
                          <m:dPr>
                            <m:ctrlPr>
                              <a:rPr lang="en-GB" sz="9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9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𝐺𝐷𝑃</m:t>
                            </m:r>
                          </m:e>
                        </m:d>
                      </m:e>
                    </m:func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dlog</m:t>
                        </m:r>
                        <m: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𝐺𝐷𝑃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+… 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  <m:r>
                          <a:rPr lang="en-US" sz="9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𝐺𝐷𝑃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𝑑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log</m:t>
                        </m:r>
                        <m: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𝐻𝐹𝐼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dlog</m:t>
                        </m:r>
                        <m: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𝐻𝐹𝐼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+…</m:t>
                    </m:r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dlog</m:t>
                        </m:r>
                        <m:r>
                          <a:rPr lang="en-US" sz="9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𝐻𝐹𝐼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9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9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endParaRPr lang="en-GB" sz="1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100" dirty="0"/>
                  <a:t>ARDL models (better fit than OLS)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391317B-8812-026A-235E-E1EC886E7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15735" y="1639354"/>
                <a:ext cx="2710247" cy="2301010"/>
              </a:xfrm>
              <a:blipFill>
                <a:blip r:embed="rId3"/>
                <a:stretch>
                  <a:fillRect l="-447" t="-264"/>
                </a:stretch>
              </a:blipFill>
              <a:ln>
                <a:solidFill>
                  <a:schemeClr val="bg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R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5697388-DFAF-11AF-0F47-016500451F9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9215717" y="1643033"/>
                <a:ext cx="2710247" cy="2301008"/>
              </a:xfrm>
              <a:ln>
                <a:solidFill>
                  <a:schemeClr val="bg1">
                    <a:lumMod val="75000"/>
                    <a:lumOff val="2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1E5155">
                      <a:lumMod val="40000"/>
                      <a:lumOff val="60000"/>
                    </a:srgbClr>
                  </a:buClr>
                  <a:buSzPct val="80000"/>
                  <a:buFont typeface="Wingdings 3" charset="2"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entury Gothic" panose="020B0502020202020204"/>
                    <a:ea typeface="+mj-ea"/>
                    <a:cs typeface="+mj-cs"/>
                  </a:rPr>
                  <a:t>Multiple Linear Equations/MLE</a:t>
                </a:r>
                <a:endParaRPr lang="en-US" sz="1200" dirty="0">
                  <a:solidFill>
                    <a:schemeClr val="bg1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2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3 </a:t>
                </a:r>
                <a:r>
                  <a:rPr lang="en-US" sz="1200" dirty="0" err="1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Eqs</a:t>
                </a:r>
                <a:r>
                  <a:rPr lang="en-US" sz="12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represent supply, demand and production, monetary and services sector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1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dlog</m:t>
                        </m:r>
                      </m:fName>
                      <m:e>
                        <m:d>
                          <m:dPr>
                            <m:ctrlPr>
                              <a:rPr lang="en-GB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𝐺𝐷𝑃</m:t>
                            </m:r>
                          </m:e>
                        </m:d>
                      </m:e>
                    </m:func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GB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func>
                      <m:funcPr>
                        <m:ctrlPr>
                          <a:rPr lang="en-GB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𝐻𝐹𝐼</m:t>
                                </m:r>
                              </m:e>
                              <m:sub>
                                <m:r>
                                  <a:rPr lang="en-US" sz="11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endParaRPr lang="en-GB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𝐻𝐹𝐼</m:t>
                        </m:r>
                      </m:e>
                      <m:sub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11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1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r</m:t>
                    </m:r>
                  </m:oMath>
                </a14:m>
                <a:r>
                  <a:rPr lang="en-US" sz="1100" dirty="0"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epresents cpi, turnovers, money supply, CPS and electricity production</a:t>
                </a:r>
                <a:endParaRPr lang="en-GB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OLS Estimation is used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5697388-DFAF-11AF-0F47-016500451F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9215717" y="1643033"/>
                <a:ext cx="2710247" cy="2301008"/>
              </a:xfrm>
              <a:blipFill>
                <a:blip r:embed="rId4"/>
                <a:stretch>
                  <a:fillRect/>
                </a:stretch>
              </a:blipFill>
              <a:ln>
                <a:solidFill>
                  <a:schemeClr val="bg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R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1967152-C1A4-60A7-1496-B0029B8978CB}"/>
              </a:ext>
            </a:extLst>
          </p:cNvPr>
          <p:cNvSpPr txBox="1">
            <a:spLocks/>
          </p:cNvSpPr>
          <p:nvPr/>
        </p:nvSpPr>
        <p:spPr>
          <a:xfrm>
            <a:off x="4330982" y="4532450"/>
            <a:ext cx="4151670" cy="2056610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Independent evaluation of BEs and MLEs forecasts for each equation using: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 methods </a:t>
            </a:r>
            <a:r>
              <a:rPr lang="en-US" sz="1100" i="1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(simple mean, MSE, MSE ranks,, simple median and least squares)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 statistics for forecast accuracy/uncertainty </a:t>
            </a:r>
            <a:r>
              <a:rPr lang="en-US" sz="1100" i="1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(RMSE, MAE, MAPE, SMAPE, Theil’s U Statistics)  </a:t>
            </a: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select ones with least forecast errors.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Independent FA of 10 Bes &amp; 3 MLEs and combine the outcome (2 series to 1 (BE &amp;MLE) using corr. least FE statistics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GDP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s.a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—combination/average of BE&amp; MLE</a:t>
            </a:r>
          </a:p>
          <a:p>
            <a:endParaRPr lang="en-GB" sz="16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DD9A38-6B86-FB96-1556-1186D33F45D6}"/>
              </a:ext>
            </a:extLst>
          </p:cNvPr>
          <p:cNvSpPr txBox="1">
            <a:spLocks/>
          </p:cNvSpPr>
          <p:nvPr/>
        </p:nvSpPr>
        <p:spPr>
          <a:xfrm>
            <a:off x="185935" y="1639356"/>
            <a:ext cx="2710248" cy="2301010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ARIMA extension of lagging Mo indicators based on specifications: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points (selection of peaks in series)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 &amp; Min lags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length (e.g. Lags or missing obs.)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9228E14-48C4-8C9F-C750-0C0E022D6550}"/>
              </a:ext>
            </a:extLst>
          </p:cNvPr>
          <p:cNvSpPr txBox="1">
            <a:spLocks/>
          </p:cNvSpPr>
          <p:nvPr/>
        </p:nvSpPr>
        <p:spPr>
          <a:xfrm>
            <a:off x="185934" y="4168587"/>
            <a:ext cx="4079953" cy="2630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400" dirty="0">
                <a:latin typeface="Gill Sans MT" panose="020B0502020104020203" pitchFamily="34" charset="0"/>
              </a:rPr>
              <a:t>4. Forecast (static) of BEs &amp; MLEs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EDA78B-89F5-9D74-65B7-4DF408E5E669}"/>
              </a:ext>
            </a:extLst>
          </p:cNvPr>
          <p:cNvSpPr txBox="1">
            <a:spLocks/>
          </p:cNvSpPr>
          <p:nvPr/>
        </p:nvSpPr>
        <p:spPr>
          <a:xfrm>
            <a:off x="185935" y="1197344"/>
            <a:ext cx="2710248" cy="332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400" dirty="0">
                <a:latin typeface="Gill Sans MT" panose="020B0502020104020203" pitchFamily="34" charset="0"/>
              </a:rPr>
              <a:t>1.  ARIMA forecast/projections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0B868F9-5AFD-C2A2-C4D1-04653AEC280E}"/>
              </a:ext>
            </a:extLst>
          </p:cNvPr>
          <p:cNvSpPr txBox="1">
            <a:spLocks/>
          </p:cNvSpPr>
          <p:nvPr/>
        </p:nvSpPr>
        <p:spPr>
          <a:xfrm>
            <a:off x="8527331" y="4532447"/>
            <a:ext cx="3398633" cy="2056609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sz="1400" dirty="0"/>
              <a:t>Final Real GDP </a:t>
            </a:r>
            <a:r>
              <a:rPr lang="en-GB" sz="1200" dirty="0"/>
              <a:t>(</a:t>
            </a:r>
            <a:r>
              <a:rPr lang="en-US" sz="12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 of BE &amp; MLE)</a:t>
            </a:r>
            <a:endParaRPr lang="en-GB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seasonal adjusted (Ann  </a:t>
            </a:r>
            <a:r>
              <a:rPr lang="en-US" sz="1100" dirty="0" err="1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yoy</a:t>
            </a: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% change)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Seasonally adjusted using EVIEWS built in function (X12)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adjusted and SA don’t deviate much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 of (individual) </a:t>
            </a:r>
            <a:r>
              <a:rPr lang="en-US" sz="1100" dirty="0" err="1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US" sz="1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indicators gives minor deviations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59A16F7-1D18-E1BC-96BA-483859E2E125}"/>
              </a:ext>
            </a:extLst>
          </p:cNvPr>
          <p:cNvSpPr txBox="1">
            <a:spLocks/>
          </p:cNvSpPr>
          <p:nvPr/>
        </p:nvSpPr>
        <p:spPr>
          <a:xfrm>
            <a:off x="185934" y="4532448"/>
            <a:ext cx="4079953" cy="2056609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for BEs and MLEs to obtain next Qo using specifications: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 at levels (no transformation like diff or </a:t>
            </a:r>
            <a:r>
              <a:rPr lang="en-US" sz="1400" dirty="0" err="1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dlog</a:t>
            </a: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forecast as forecast method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sample (i.e., 2024Q1 2024Q2)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Out-of-sample (actuals included in forecast sample( i.e., 2017Q1-2024Q2)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evaluation for FE statistics &amp; graph as output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76D5C5D-BE51-405D-B001-277B3A272E63}"/>
              </a:ext>
            </a:extLst>
          </p:cNvPr>
          <p:cNvSpPr txBox="1">
            <a:spLocks/>
          </p:cNvSpPr>
          <p:nvPr/>
        </p:nvSpPr>
        <p:spPr>
          <a:xfrm>
            <a:off x="8516470" y="4168587"/>
            <a:ext cx="3409496" cy="2231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400" dirty="0">
                <a:latin typeface="Gill Sans MT" panose="020B0502020104020203" pitchFamily="34" charset="0"/>
              </a:rPr>
              <a:t>6. Seasonal adjustment (</a:t>
            </a:r>
            <a:r>
              <a:rPr lang="en-GB" sz="1400" dirty="0" err="1">
                <a:latin typeface="Gill Sans MT" panose="020B0502020104020203" pitchFamily="34" charset="0"/>
              </a:rPr>
              <a:t>sa</a:t>
            </a:r>
            <a:r>
              <a:rPr lang="en-GB" sz="1400" dirty="0"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664064D-A5E4-B1DB-49B9-5327A675CC08}"/>
              </a:ext>
            </a:extLst>
          </p:cNvPr>
          <p:cNvSpPr txBox="1">
            <a:spLocks/>
          </p:cNvSpPr>
          <p:nvPr/>
        </p:nvSpPr>
        <p:spPr>
          <a:xfrm>
            <a:off x="4330983" y="4040675"/>
            <a:ext cx="4151669" cy="3547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400" dirty="0">
                <a:latin typeface="Gill Sans MT" panose="020B0502020104020203" pitchFamily="34" charset="0"/>
              </a:rPr>
              <a:t>5. Forecast evaluation (FE) &amp; averaging 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E679054-2C29-F319-BB2F-5FC618A76890}"/>
              </a:ext>
            </a:extLst>
          </p:cNvPr>
          <p:cNvSpPr txBox="1">
            <a:spLocks/>
          </p:cNvSpPr>
          <p:nvPr/>
        </p:nvSpPr>
        <p:spPr>
          <a:xfrm>
            <a:off x="2967318" y="1639356"/>
            <a:ext cx="3358682" cy="2301010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/>
              </a:rPr>
              <a:t>High to lower frequency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GDP is observed on Qo basis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Conversion from monthly to quarterly frequency for all HFIs using: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900" dirty="0"/>
              <a:t>Average function for rates or stock indicators (e.g. CPI, ER, CIEA, IIP and PPI.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100" dirty="0"/>
              <a:t>Sum function for other nominal or level or flow indicators (e.g., exports vol &amp; </a:t>
            </a:r>
            <a:r>
              <a:rPr lang="en-GB" sz="1100" dirty="0" err="1"/>
              <a:t>val</a:t>
            </a:r>
            <a:r>
              <a:rPr lang="en-GB" sz="1100" dirty="0"/>
              <a:t>, cement, milk and drinks prod and turnovers)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A7FF7DD-6518-7B49-6FC0-FDB0157819E7}"/>
              </a:ext>
            </a:extLst>
          </p:cNvPr>
          <p:cNvSpPr txBox="1">
            <a:spLocks/>
          </p:cNvSpPr>
          <p:nvPr/>
        </p:nvSpPr>
        <p:spPr>
          <a:xfrm>
            <a:off x="2976618" y="1192850"/>
            <a:ext cx="3358681" cy="332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400" dirty="0">
                <a:latin typeface="Gill Sans MT" panose="020B0502020104020203" pitchFamily="34" charset="0"/>
              </a:rPr>
              <a:t>2.  Data frequency conversions/aggregation</a:t>
            </a:r>
          </a:p>
        </p:txBody>
      </p:sp>
    </p:spTree>
    <p:extLst>
      <p:ext uri="{BB962C8B-B14F-4D97-AF65-F5344CB8AC3E}">
        <p14:creationId xmlns:p14="http://schemas.microsoft.com/office/powerpoint/2010/main" val="350518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F3F9-4E5B-51E3-F1F5-18586A0D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31695"/>
            <a:ext cx="8977441" cy="647729"/>
          </a:xfrm>
        </p:spPr>
        <p:txBody>
          <a:bodyPr/>
          <a:lstStyle/>
          <a:p>
            <a:r>
              <a:rPr lang="en-GB" sz="2400" b="1" dirty="0">
                <a:solidFill>
                  <a:srgbClr val="92D050"/>
                </a:solidFill>
              </a:rPr>
              <a:t>Key steps for nowcasting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2B542-1EC1-EAFE-F21B-143B6847A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222" y="1290218"/>
            <a:ext cx="9864989" cy="4717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Update available monthly data 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(i.e., turnovers, production and exports) </a:t>
            </a: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from different sources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ARIMA forecast for missing (identify best starting points);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Data aggregation (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transformation from monthly to quarterly using summation&amp; average functions)</a:t>
            </a: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Bridge and Multiple Linear equations estimations (ARDL and OLS);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Static in-sample forecasting for all BEs &amp; MLEs equations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Forecast errors evaluation using forecast evaluation methods and evaluation statistics 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incl. </a:t>
            </a:r>
            <a:r>
              <a:rPr lang="en-GB" sz="1400" dirty="0">
                <a:latin typeface="Segoe UI" panose="020B0502040204020203" pitchFamily="34" charset="0"/>
                <a:cs typeface="Segoe UI" panose="020B0502040204020203" pitchFamily="34" charset="0"/>
              </a:rPr>
              <a:t>RMSE, MAE, MAPE, SMAPE, Theil Inequality Coefficients U1 and U2);</a:t>
            </a:r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Selection of best BEs and MLEs forecasts </a:t>
            </a:r>
            <a:r>
              <a:rPr lang="en-GB" sz="1400" dirty="0">
                <a:latin typeface="Segoe UI" panose="020B0502040204020203" pitchFamily="34" charset="0"/>
                <a:cs typeface="Segoe UI" panose="020B0502040204020203" pitchFamily="34" charset="0"/>
              </a:rPr>
              <a:t>(i.e., 10 BE &amp; 2 MLE forecasts);</a:t>
            </a: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Forecast averaging/combination (using least errors forecast evaluation method) –average 10 BEs into 1 &amp; 2 or 3 MLEs;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Forecast evaluation and average for 1 BE &amp; 1 MLE for final combined GDP;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latin typeface="Segoe UI" panose="020B0502040204020203" pitchFamily="34" charset="0"/>
                <a:cs typeface="Segoe UI" panose="020B0502040204020203" pitchFamily="34" charset="0"/>
              </a:rPr>
              <a:t>Seasonal adjustment for final GDP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270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E625-13C4-6CC4-B569-5B8EA9D8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81" y="130147"/>
            <a:ext cx="9404723" cy="470617"/>
          </a:xfrm>
        </p:spPr>
        <p:txBody>
          <a:bodyPr/>
          <a:lstStyle/>
          <a:p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Nowcasting in practice—highlights from EVIEWS program </a:t>
            </a:r>
            <a:endParaRPr lang="en-GB" b="1" dirty="0">
              <a:solidFill>
                <a:srgbClr val="92D05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AD1B-0AB1-FA4A-DB14-E8EF23C99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5735" y="1169936"/>
            <a:ext cx="5590330" cy="332394"/>
          </a:xfrm>
        </p:spPr>
        <p:txBody>
          <a:bodyPr/>
          <a:lstStyle/>
          <a:p>
            <a:pPr algn="ctr"/>
            <a:r>
              <a:rPr lang="en-GB" sz="1400" dirty="0">
                <a:latin typeface="Gill Sans MT" panose="020B0502020104020203" pitchFamily="34" charset="0"/>
              </a:rPr>
              <a:t>3. Estimation of equations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E544014-4F21-8539-CB79-CA07DB2F72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17" y="1636511"/>
            <a:ext cx="2711450" cy="1746138"/>
          </a:xfrm>
          <a:ln>
            <a:solidFill>
              <a:schemeClr val="bg1">
                <a:lumMod val="75000"/>
                <a:lumOff val="25000"/>
              </a:schemeClr>
            </a:solidFill>
          </a:ln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1967152-C1A4-60A7-1496-B0029B8978CB}"/>
              </a:ext>
            </a:extLst>
          </p:cNvPr>
          <p:cNvSpPr txBox="1">
            <a:spLocks/>
          </p:cNvSpPr>
          <p:nvPr/>
        </p:nvSpPr>
        <p:spPr>
          <a:xfrm>
            <a:off x="3155881" y="4449472"/>
            <a:ext cx="2571151" cy="2113308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DD9A38-6B86-FB96-1556-1186D33F45D6}"/>
              </a:ext>
            </a:extLst>
          </p:cNvPr>
          <p:cNvSpPr txBox="1">
            <a:spLocks/>
          </p:cNvSpPr>
          <p:nvPr/>
        </p:nvSpPr>
        <p:spPr>
          <a:xfrm>
            <a:off x="185935" y="1639356"/>
            <a:ext cx="2710248" cy="2301010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9228E14-48C4-8C9F-C750-0C0E022D6550}"/>
              </a:ext>
            </a:extLst>
          </p:cNvPr>
          <p:cNvSpPr txBox="1">
            <a:spLocks/>
          </p:cNvSpPr>
          <p:nvPr/>
        </p:nvSpPr>
        <p:spPr>
          <a:xfrm>
            <a:off x="185933" y="4095802"/>
            <a:ext cx="2857437" cy="2630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4. Forecast (static) of BEs &amp; MLEs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EDA78B-89F5-9D74-65B7-4DF408E5E669}"/>
              </a:ext>
            </a:extLst>
          </p:cNvPr>
          <p:cNvSpPr txBox="1">
            <a:spLocks/>
          </p:cNvSpPr>
          <p:nvPr/>
        </p:nvSpPr>
        <p:spPr>
          <a:xfrm>
            <a:off x="185935" y="1197344"/>
            <a:ext cx="2710248" cy="332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1.  ARIMA forecast/projections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76D5C5D-BE51-405D-B001-277B3A272E63}"/>
              </a:ext>
            </a:extLst>
          </p:cNvPr>
          <p:cNvSpPr txBox="1">
            <a:spLocks/>
          </p:cNvSpPr>
          <p:nvPr/>
        </p:nvSpPr>
        <p:spPr>
          <a:xfrm>
            <a:off x="6415735" y="3488074"/>
            <a:ext cx="3999602" cy="2479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6. Final GDP FA and seasonal adjustment 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sa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664064D-A5E4-B1DB-49B9-5327A675CC08}"/>
              </a:ext>
            </a:extLst>
          </p:cNvPr>
          <p:cNvSpPr txBox="1">
            <a:spLocks/>
          </p:cNvSpPr>
          <p:nvPr/>
        </p:nvSpPr>
        <p:spPr>
          <a:xfrm>
            <a:off x="3162360" y="4046621"/>
            <a:ext cx="2571150" cy="2948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5.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Forecast evaluation (FE) &amp; averaging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1E5155">
                  <a:lumMod val="40000"/>
                  <a:lumOff val="60000"/>
                </a:srgbClr>
              </a:solidFill>
              <a:effectLst/>
              <a:uLnTx/>
              <a:uFillTx/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E679054-2C29-F319-BB2F-5FC618A76890}"/>
              </a:ext>
            </a:extLst>
          </p:cNvPr>
          <p:cNvSpPr txBox="1">
            <a:spLocks/>
          </p:cNvSpPr>
          <p:nvPr/>
        </p:nvSpPr>
        <p:spPr>
          <a:xfrm>
            <a:off x="2967318" y="1639356"/>
            <a:ext cx="3358682" cy="2096703"/>
          </a:xfrm>
          <a:prstGeom prst="rect">
            <a:avLst/>
          </a:prstGeom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A7FF7DD-6518-7B49-6FC0-FDB0157819E7}"/>
              </a:ext>
            </a:extLst>
          </p:cNvPr>
          <p:cNvSpPr txBox="1">
            <a:spLocks/>
          </p:cNvSpPr>
          <p:nvPr/>
        </p:nvSpPr>
        <p:spPr>
          <a:xfrm>
            <a:off x="2976618" y="1192850"/>
            <a:ext cx="3358681" cy="332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E5155">
                    <a:lumMod val="40000"/>
                    <a:lumOff val="60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2.  Data frequency conversions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E622D3-4884-4DEA-CB46-A00218852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34" y="1677168"/>
            <a:ext cx="2691649" cy="520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5604B2-3E8F-4E73-D2B8-46EBF23D1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33" y="2235028"/>
            <a:ext cx="2691650" cy="17053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54236A-7D20-1226-6C40-A9CC05838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5918" y="1652335"/>
            <a:ext cx="3340082" cy="8542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21D49DF-570B-B616-575C-33C9CB4C89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918" y="2547268"/>
            <a:ext cx="3340082" cy="1188791"/>
          </a:xfrm>
          <a:prstGeom prst="rect">
            <a:avLst/>
          </a:prstGeom>
        </p:spPr>
      </p:pic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56905BB8-EC07-037F-430D-D50FA1ADBD7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975" y="1636510"/>
            <a:ext cx="2808090" cy="1284025"/>
          </a:xfr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8DACD5E-DC27-237D-CBEA-37272D20E3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933" y="4431632"/>
            <a:ext cx="2857438" cy="16293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888E19-EBBE-035C-F2B7-EFF05737CF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1368" y="4468557"/>
            <a:ext cx="2571150" cy="110690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78D8C91-D359-DFA0-ED80-54E98E8E83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2361" y="5665150"/>
            <a:ext cx="2564671" cy="9682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A6664DA-8721-4786-2FA6-20AF322990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735" y="3773081"/>
            <a:ext cx="3139178" cy="10435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DC639BF-30DB-C858-EE74-2B745A3B9F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9028" y="3773081"/>
            <a:ext cx="2407037" cy="2219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DBCA4E-4A1B-A3DA-A900-D271EDDAAD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5735" y="4816642"/>
            <a:ext cx="3139178" cy="174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1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E625-13C4-6CC4-B569-5B8EA9D8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702314"/>
          </a:xfrm>
        </p:spPr>
        <p:txBody>
          <a:bodyPr/>
          <a:lstStyle/>
          <a:p>
            <a:r>
              <a:rPr lang="en-GB" sz="3200" b="1" dirty="0">
                <a:solidFill>
                  <a:srgbClr val="92D050"/>
                </a:solidFill>
              </a:rPr>
              <a:t>Results presentation/illustration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FF393-87A5-AAC0-A046-7299994A3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1365" y="1654140"/>
            <a:ext cx="9117068" cy="458056"/>
          </a:xfrm>
        </p:spPr>
        <p:txBody>
          <a:bodyPr/>
          <a:lstStyle/>
          <a:p>
            <a:r>
              <a:rPr lang="en-GB" dirty="0"/>
              <a:t>Selected GDP indicators (</a:t>
            </a:r>
            <a:r>
              <a:rPr lang="en-GB" dirty="0" err="1"/>
              <a:t>yoy</a:t>
            </a:r>
            <a:r>
              <a:rPr lang="en-GB" dirty="0"/>
              <a:t> %) for </a:t>
            </a:r>
            <a:r>
              <a:rPr lang="en-GB"/>
              <a:t>nowcasting brief</a:t>
            </a:r>
            <a:endParaRPr lang="en-GB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719009"/>
              </p:ext>
            </p:extLst>
          </p:nvPr>
        </p:nvGraphicFramePr>
        <p:xfrm>
          <a:off x="361365" y="2287588"/>
          <a:ext cx="4395787" cy="3741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699891539"/>
              </p:ext>
            </p:extLst>
          </p:nvPr>
        </p:nvGraphicFramePr>
        <p:xfrm>
          <a:off x="5053263" y="2287588"/>
          <a:ext cx="4363453" cy="3741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938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69B46-1E18-15E6-B224-66DEF6F1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3745"/>
          </a:xfrm>
        </p:spPr>
        <p:txBody>
          <a:bodyPr/>
          <a:lstStyle/>
          <a:p>
            <a:r>
              <a:rPr lang="en-GB" dirty="0">
                <a:solidFill>
                  <a:srgbClr val="92D05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89EC-7031-D722-3BFE-4DB2910C9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38" y="1541124"/>
            <a:ext cx="8946541" cy="46970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Kalisa, T. &amp; </a:t>
            </a:r>
            <a:r>
              <a:rPr lang="fr-FR" sz="18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Nsanza</a:t>
            </a:r>
            <a:r>
              <a:rPr lang="fr-FR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J.U. (2018). </a:t>
            </a:r>
            <a:r>
              <a:rPr lang="en-US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Nowcasting GDP in Rwanda.</a:t>
            </a:r>
            <a:r>
              <a:rPr lang="en-US" sz="1800" i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BNR Economic Review, 12.</a:t>
            </a:r>
            <a:r>
              <a:rPr lang="en-US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”.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“Angelini, Elena, et al. (2011) "Short‐term forecasts of euro area GDP growth." The Econometrics Journal 14.1: C25-C44.”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745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8863</TotalTime>
  <Words>1344</Words>
  <Application>Microsoft Office PowerPoint</Application>
  <PresentationFormat>Widescreen</PresentationFormat>
  <Paragraphs>171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Century Gothic</vt:lpstr>
      <vt:lpstr>Gill Sans MT</vt:lpstr>
      <vt:lpstr>Segoe UI</vt:lpstr>
      <vt:lpstr>Wingdings</vt:lpstr>
      <vt:lpstr>Wingdings 3</vt:lpstr>
      <vt:lpstr>Ion</vt:lpstr>
      <vt:lpstr>Quarterly GDP Nowcasting </vt:lpstr>
      <vt:lpstr>Outline &amp; Content</vt:lpstr>
      <vt:lpstr>Introduction</vt:lpstr>
      <vt:lpstr>Rationale &amp; use</vt:lpstr>
      <vt:lpstr>Variables &amp; data sources </vt:lpstr>
      <vt:lpstr>Methodology &amp; steps of nowcasting</vt:lpstr>
      <vt:lpstr>Key steps for nowcasting</vt:lpstr>
      <vt:lpstr>Nowcasting in practice—highlights from EVIEWS program </vt:lpstr>
      <vt:lpstr>Results presentation/illustration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GDP Nowcasting in Rwanda</dc:title>
  <dc:creator>Eric MUTABAZI</dc:creator>
  <cp:lastModifiedBy>Evariste MANIRUMVA</cp:lastModifiedBy>
  <cp:revision>76</cp:revision>
  <dcterms:created xsi:type="dcterms:W3CDTF">2022-11-11T07:53:30Z</dcterms:created>
  <dcterms:modified xsi:type="dcterms:W3CDTF">2024-04-22T13:57:07Z</dcterms:modified>
</cp:coreProperties>
</file>